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Libre Baskerville Bold" charset="1" panose="02000000000000000000"/>
      <p:regular r:id="rId14"/>
    </p:embeddedFont>
    <p:embeddedFont>
      <p:font typeface="Source Sans 3 Semi-Bold" charset="1" panose="020B0303030403020204"/>
      <p:regular r:id="rId15"/>
    </p:embeddedFont>
    <p:embeddedFont>
      <p:font typeface="Source Sans 3 Bold" charset="1" panose="020B0303030403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730286"/>
            <a:chOff x="0" y="0"/>
            <a:chExt cx="4274726" cy="1923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92339"/>
            </a:xfrm>
            <a:custGeom>
              <a:avLst/>
              <a:gdLst/>
              <a:ahLst/>
              <a:cxnLst/>
              <a:rect r="r" b="b" t="t" l="l"/>
              <a:pathLst>
                <a:path h="192339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68012"/>
                  </a:lnTo>
                  <a:cubicBezTo>
                    <a:pt x="4274726" y="181447"/>
                    <a:pt x="4263834" y="192339"/>
                    <a:pt x="4250399" y="192339"/>
                  </a:cubicBezTo>
                  <a:lnTo>
                    <a:pt x="24327" y="192339"/>
                  </a:lnTo>
                  <a:cubicBezTo>
                    <a:pt x="10891" y="192339"/>
                    <a:pt x="0" y="181447"/>
                    <a:pt x="0" y="168012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ln w="38100" cap="rnd">
              <a:solidFill>
                <a:srgbClr val="E5E7E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30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46216" y="2843917"/>
            <a:ext cx="6345374" cy="6033264"/>
            <a:chOff x="0" y="0"/>
            <a:chExt cx="1186837" cy="11284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6837" cy="1128460"/>
            </a:xfrm>
            <a:custGeom>
              <a:avLst/>
              <a:gdLst/>
              <a:ahLst/>
              <a:cxnLst/>
              <a:rect r="r" b="b" t="t" l="l"/>
              <a:pathLst>
                <a:path h="1128460" w="1186837">
                  <a:moveTo>
                    <a:pt x="61004" y="0"/>
                  </a:moveTo>
                  <a:lnTo>
                    <a:pt x="1125833" y="0"/>
                  </a:lnTo>
                  <a:cubicBezTo>
                    <a:pt x="1142012" y="0"/>
                    <a:pt x="1157529" y="6427"/>
                    <a:pt x="1168969" y="17868"/>
                  </a:cubicBezTo>
                  <a:cubicBezTo>
                    <a:pt x="1180410" y="29308"/>
                    <a:pt x="1186837" y="44825"/>
                    <a:pt x="1186837" y="61004"/>
                  </a:cubicBezTo>
                  <a:lnTo>
                    <a:pt x="1186837" y="1067456"/>
                  </a:lnTo>
                  <a:cubicBezTo>
                    <a:pt x="1186837" y="1083635"/>
                    <a:pt x="1180410" y="1099152"/>
                    <a:pt x="1168969" y="1110592"/>
                  </a:cubicBezTo>
                  <a:cubicBezTo>
                    <a:pt x="1157529" y="1122033"/>
                    <a:pt x="1142012" y="1128460"/>
                    <a:pt x="1125833" y="1128460"/>
                  </a:cubicBezTo>
                  <a:lnTo>
                    <a:pt x="61004" y="1128460"/>
                  </a:lnTo>
                  <a:cubicBezTo>
                    <a:pt x="44825" y="1128460"/>
                    <a:pt x="29308" y="1122033"/>
                    <a:pt x="17868" y="1110592"/>
                  </a:cubicBezTo>
                  <a:cubicBezTo>
                    <a:pt x="6427" y="1099152"/>
                    <a:pt x="0" y="1083635"/>
                    <a:pt x="0" y="1067456"/>
                  </a:cubicBezTo>
                  <a:lnTo>
                    <a:pt x="0" y="61004"/>
                  </a:lnTo>
                  <a:cubicBezTo>
                    <a:pt x="0" y="44825"/>
                    <a:pt x="6427" y="29308"/>
                    <a:pt x="17868" y="17868"/>
                  </a:cubicBezTo>
                  <a:cubicBezTo>
                    <a:pt x="29308" y="6427"/>
                    <a:pt x="44825" y="0"/>
                    <a:pt x="6100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586" r="0" b="-258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883445"/>
            <a:ext cx="8115300" cy="171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44"/>
              </a:lnSpc>
            </a:pPr>
            <a:r>
              <a:rPr lang="en-US" b="true" sz="4960">
                <a:solidFill>
                  <a:srgbClr val="1F2A44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Hallucination Detection and Correction 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366257"/>
            <a:ext cx="8115300" cy="836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39"/>
              </a:lnSpc>
            </a:pPr>
            <a:r>
              <a:rPr lang="en-US" b="true" sz="4956">
                <a:solidFill>
                  <a:srgbClr val="1F2A44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Large Language Models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5014" y="1153919"/>
            <a:ext cx="2823587" cy="37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2"/>
              </a:lnSpc>
              <a:spcBef>
                <a:spcPct val="0"/>
              </a:spcBef>
            </a:pPr>
            <a:r>
              <a:rPr lang="en-US" b="true" sz="2144" spc="-42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[Your Name]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9289" y="8642198"/>
            <a:ext cx="5052571" cy="37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2"/>
              </a:lnSpc>
              <a:spcBef>
                <a:spcPct val="0"/>
              </a:spcBef>
            </a:pPr>
            <a:r>
              <a:rPr lang="en-US" b="true" sz="2144" spc="-42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A Research Proposal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55889" y="1153919"/>
            <a:ext cx="3930366" cy="37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02"/>
              </a:lnSpc>
              <a:spcBef>
                <a:spcPct val="0"/>
              </a:spcBef>
            </a:pPr>
            <a:r>
              <a:rPr lang="en-US" b="true" sz="2144" spc="-42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Guide: [Guide Name &amp; Designation]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32206" y="1153919"/>
            <a:ext cx="2823587" cy="37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2"/>
              </a:lnSpc>
              <a:spcBef>
                <a:spcPct val="0"/>
              </a:spcBef>
            </a:pPr>
            <a:r>
              <a:rPr lang="en-US" b="true" sz="2144" spc="-42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2025–26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730286"/>
            <a:chOff x="0" y="0"/>
            <a:chExt cx="4274726" cy="1923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92339"/>
            </a:xfrm>
            <a:custGeom>
              <a:avLst/>
              <a:gdLst/>
              <a:ahLst/>
              <a:cxnLst/>
              <a:rect r="r" b="b" t="t" l="l"/>
              <a:pathLst>
                <a:path h="192339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68012"/>
                  </a:lnTo>
                  <a:cubicBezTo>
                    <a:pt x="4274726" y="181447"/>
                    <a:pt x="4263834" y="192339"/>
                    <a:pt x="4250399" y="192339"/>
                  </a:cubicBezTo>
                  <a:lnTo>
                    <a:pt x="24327" y="192339"/>
                  </a:lnTo>
                  <a:cubicBezTo>
                    <a:pt x="10891" y="192339"/>
                    <a:pt x="0" y="181447"/>
                    <a:pt x="0" y="168012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ln w="38100" cap="rnd">
              <a:solidFill>
                <a:srgbClr val="E5E7E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30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04763" y="6999453"/>
            <a:ext cx="6096443" cy="2258847"/>
            <a:chOff x="0" y="0"/>
            <a:chExt cx="1605647" cy="5949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05647" cy="594923"/>
            </a:xfrm>
            <a:custGeom>
              <a:avLst/>
              <a:gdLst/>
              <a:ahLst/>
              <a:cxnLst/>
              <a:rect r="r" b="b" t="t" l="l"/>
              <a:pathLst>
                <a:path h="594923" w="1605647">
                  <a:moveTo>
                    <a:pt x="64765" y="0"/>
                  </a:moveTo>
                  <a:lnTo>
                    <a:pt x="1540882" y="0"/>
                  </a:lnTo>
                  <a:cubicBezTo>
                    <a:pt x="1576651" y="0"/>
                    <a:pt x="1605647" y="28996"/>
                    <a:pt x="1605647" y="64765"/>
                  </a:cubicBezTo>
                  <a:lnTo>
                    <a:pt x="1605647" y="530157"/>
                  </a:lnTo>
                  <a:cubicBezTo>
                    <a:pt x="1605647" y="547334"/>
                    <a:pt x="1598824" y="563807"/>
                    <a:pt x="1586678" y="575953"/>
                  </a:cubicBezTo>
                  <a:cubicBezTo>
                    <a:pt x="1574532" y="588099"/>
                    <a:pt x="1558059" y="594923"/>
                    <a:pt x="1540882" y="594923"/>
                  </a:cubicBezTo>
                  <a:lnTo>
                    <a:pt x="64765" y="594923"/>
                  </a:lnTo>
                  <a:cubicBezTo>
                    <a:pt x="28996" y="594923"/>
                    <a:pt x="0" y="565926"/>
                    <a:pt x="0" y="530157"/>
                  </a:cubicBezTo>
                  <a:lnTo>
                    <a:pt x="0" y="64765"/>
                  </a:lnTo>
                  <a:cubicBezTo>
                    <a:pt x="0" y="28996"/>
                    <a:pt x="28996" y="0"/>
                    <a:pt x="64765" y="0"/>
                  </a:cubicBezTo>
                  <a:close/>
                </a:path>
              </a:pathLst>
            </a:custGeom>
            <a:ln w="38100" cap="rnd">
              <a:solidFill>
                <a:srgbClr val="E5E7EB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05647" cy="633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6001427"/>
            <a:ext cx="7143287" cy="3256873"/>
            <a:chOff x="0" y="0"/>
            <a:chExt cx="1106682" cy="5045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6682" cy="504575"/>
            </a:xfrm>
            <a:custGeom>
              <a:avLst/>
              <a:gdLst/>
              <a:ahLst/>
              <a:cxnLst/>
              <a:rect r="r" b="b" t="t" l="l"/>
              <a:pathLst>
                <a:path h="504575" w="1106682">
                  <a:moveTo>
                    <a:pt x="54190" y="0"/>
                  </a:moveTo>
                  <a:lnTo>
                    <a:pt x="1052492" y="0"/>
                  </a:lnTo>
                  <a:cubicBezTo>
                    <a:pt x="1082420" y="0"/>
                    <a:pt x="1106682" y="24262"/>
                    <a:pt x="1106682" y="54190"/>
                  </a:cubicBezTo>
                  <a:lnTo>
                    <a:pt x="1106682" y="450385"/>
                  </a:lnTo>
                  <a:cubicBezTo>
                    <a:pt x="1106682" y="480313"/>
                    <a:pt x="1082420" y="504575"/>
                    <a:pt x="1052492" y="504575"/>
                  </a:cubicBezTo>
                  <a:lnTo>
                    <a:pt x="54190" y="504575"/>
                  </a:lnTo>
                  <a:cubicBezTo>
                    <a:pt x="24262" y="504575"/>
                    <a:pt x="0" y="480313"/>
                    <a:pt x="0" y="450385"/>
                  </a:cubicBezTo>
                  <a:lnTo>
                    <a:pt x="0" y="54190"/>
                  </a:lnTo>
                  <a:cubicBezTo>
                    <a:pt x="0" y="24262"/>
                    <a:pt x="24262" y="0"/>
                    <a:pt x="541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2508" r="0" b="-1250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55014" y="1163444"/>
            <a:ext cx="2823587" cy="306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4"/>
              </a:lnSpc>
              <a:spcBef>
                <a:spcPct val="0"/>
              </a:spcBef>
            </a:pPr>
            <a:r>
              <a:rPr lang="en-US" b="true" sz="1817" spc="-36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Research Proposal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32206" y="1163444"/>
            <a:ext cx="2823587" cy="306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44"/>
              </a:lnSpc>
              <a:spcBef>
                <a:spcPct val="0"/>
              </a:spcBef>
            </a:pPr>
            <a:r>
              <a:rPr lang="en-US" b="true" sz="1817" spc="-36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2025–26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55889" y="1163444"/>
            <a:ext cx="3930366" cy="306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44"/>
              </a:lnSpc>
              <a:spcBef>
                <a:spcPct val="0"/>
              </a:spcBef>
            </a:pPr>
            <a:r>
              <a:rPr lang="en-US" b="true" sz="1817" spc="-36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Hallucination in LLMs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1100" y="2694044"/>
            <a:ext cx="7962900" cy="2797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92"/>
              </a:lnSpc>
            </a:pPr>
            <a:r>
              <a:rPr lang="en-US" b="true" sz="9992">
                <a:solidFill>
                  <a:srgbClr val="1F2A44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Problem Statement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04763" y="2551169"/>
            <a:ext cx="7854537" cy="12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4"/>
              </a:lnSpc>
              <a:spcBef>
                <a:spcPct val="0"/>
              </a:spcBef>
            </a:pPr>
            <a:r>
              <a:rPr lang="en-US" b="true" sz="1817" spc="-36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Large Language Models such as GPT, LLaMA, and Gemini frequently generate fluent but factually incorrect text — called hallucination. This occurs when output contains false, misleading, or unverifiable information not grounded in training data or context.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49136" y="7504761"/>
            <a:ext cx="5303834" cy="124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4"/>
              </a:lnSpc>
            </a:pPr>
            <a:r>
              <a:rPr lang="en-US" b="true" sz="1817" spc="-36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Serious risks in healthcare, legal, and education domains</a:t>
            </a:r>
          </a:p>
          <a:p>
            <a:pPr algn="l" marL="0" indent="0" lvl="0">
              <a:lnSpc>
                <a:spcPts val="2544"/>
              </a:lnSpc>
            </a:pPr>
            <a:r>
              <a:rPr lang="en-US" b="true" sz="1817" spc="-36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Current LLMs lack reliable detection mechanisms</a:t>
            </a:r>
          </a:p>
          <a:p>
            <a:pPr algn="l" marL="0" indent="0" lvl="0">
              <a:lnSpc>
                <a:spcPts val="2544"/>
              </a:lnSpc>
            </a:pPr>
            <a:r>
              <a:rPr lang="en-US" b="true" sz="1817" spc="-36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Urgent need for systematic identification and correction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04763" y="6399142"/>
            <a:ext cx="2937760" cy="4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7"/>
              </a:lnSpc>
              <a:spcBef>
                <a:spcPct val="0"/>
              </a:spcBef>
            </a:pPr>
            <a:r>
              <a:rPr lang="en-US" b="true" sz="2498" spc="-49">
                <a:solidFill>
                  <a:srgbClr val="4A5D7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Key Challenges: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1100" y="1028700"/>
            <a:ext cx="16230600" cy="730286"/>
            <a:chOff x="0" y="0"/>
            <a:chExt cx="4274726" cy="1923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92339"/>
            </a:xfrm>
            <a:custGeom>
              <a:avLst/>
              <a:gdLst/>
              <a:ahLst/>
              <a:cxnLst/>
              <a:rect r="r" b="b" t="t" l="l"/>
              <a:pathLst>
                <a:path h="192339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68012"/>
                  </a:lnTo>
                  <a:cubicBezTo>
                    <a:pt x="4274726" y="181447"/>
                    <a:pt x="4263834" y="192339"/>
                    <a:pt x="4250399" y="192339"/>
                  </a:cubicBezTo>
                  <a:lnTo>
                    <a:pt x="24327" y="192339"/>
                  </a:lnTo>
                  <a:cubicBezTo>
                    <a:pt x="10891" y="192339"/>
                    <a:pt x="0" y="181447"/>
                    <a:pt x="0" y="168012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ln w="38100" cap="rnd">
              <a:solidFill>
                <a:srgbClr val="E5E7E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30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2464580" y="6524688"/>
            <a:ext cx="8482109" cy="0"/>
          </a:xfrm>
          <a:prstGeom prst="line">
            <a:avLst/>
          </a:prstGeom>
          <a:ln cap="flat" w="38100">
            <a:solidFill>
              <a:srgbClr val="4A5D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464580" y="7356505"/>
            <a:ext cx="8482109" cy="0"/>
          </a:xfrm>
          <a:prstGeom prst="line">
            <a:avLst/>
          </a:prstGeom>
          <a:ln cap="flat" w="38100">
            <a:solidFill>
              <a:srgbClr val="4A5D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2464580" y="8207372"/>
            <a:ext cx="8482109" cy="0"/>
          </a:xfrm>
          <a:prstGeom prst="line">
            <a:avLst/>
          </a:prstGeom>
          <a:ln cap="flat" w="38100">
            <a:solidFill>
              <a:srgbClr val="4A5D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2464580" y="9039189"/>
            <a:ext cx="8482109" cy="0"/>
          </a:xfrm>
          <a:prstGeom prst="line">
            <a:avLst/>
          </a:prstGeom>
          <a:ln cap="flat" w="38100">
            <a:solidFill>
              <a:srgbClr val="4A5D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2138282" y="2241550"/>
            <a:ext cx="5121018" cy="7016750"/>
            <a:chOff x="0" y="0"/>
            <a:chExt cx="793380" cy="10870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3380" cy="1087078"/>
            </a:xfrm>
            <a:custGeom>
              <a:avLst/>
              <a:gdLst/>
              <a:ahLst/>
              <a:cxnLst/>
              <a:rect r="r" b="b" t="t" l="l"/>
              <a:pathLst>
                <a:path h="1087078" w="793380">
                  <a:moveTo>
                    <a:pt x="75590" y="0"/>
                  </a:moveTo>
                  <a:lnTo>
                    <a:pt x="717790" y="0"/>
                  </a:lnTo>
                  <a:cubicBezTo>
                    <a:pt x="759537" y="0"/>
                    <a:pt x="793380" y="33843"/>
                    <a:pt x="793380" y="75590"/>
                  </a:cubicBezTo>
                  <a:lnTo>
                    <a:pt x="793380" y="1011488"/>
                  </a:lnTo>
                  <a:cubicBezTo>
                    <a:pt x="793380" y="1053236"/>
                    <a:pt x="759537" y="1087078"/>
                    <a:pt x="717790" y="1087078"/>
                  </a:cubicBezTo>
                  <a:lnTo>
                    <a:pt x="75590" y="1087078"/>
                  </a:lnTo>
                  <a:cubicBezTo>
                    <a:pt x="33843" y="1087078"/>
                    <a:pt x="0" y="1053236"/>
                    <a:pt x="0" y="1011488"/>
                  </a:cubicBezTo>
                  <a:lnTo>
                    <a:pt x="0" y="75590"/>
                  </a:lnTo>
                  <a:cubicBezTo>
                    <a:pt x="0" y="33843"/>
                    <a:pt x="33843" y="0"/>
                    <a:pt x="75590" y="0"/>
                  </a:cubicBezTo>
                  <a:close/>
                </a:path>
              </a:pathLst>
            </a:custGeom>
            <a:blipFill>
              <a:blip r:embed="rId2"/>
              <a:stretch>
                <a:fillRect l="-1125" t="0" r="-1125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507414" y="1172969"/>
            <a:ext cx="2823587" cy="27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1"/>
              </a:lnSpc>
              <a:spcBef>
                <a:spcPct val="0"/>
              </a:spcBef>
            </a:pPr>
            <a:r>
              <a:rPr lang="en-US" b="true" sz="1608" spc="-32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LLM Research Proposal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84606" y="1172969"/>
            <a:ext cx="2823587" cy="27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51"/>
              </a:lnSpc>
              <a:spcBef>
                <a:spcPct val="0"/>
              </a:spcBef>
            </a:pPr>
            <a:r>
              <a:rPr lang="en-US" b="true" sz="1608" spc="-32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08289" y="1172969"/>
            <a:ext cx="3930366" cy="27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51"/>
              </a:lnSpc>
              <a:spcBef>
                <a:spcPct val="0"/>
              </a:spcBef>
            </a:pPr>
            <a:r>
              <a:rPr lang="en-US" b="true" sz="1608" spc="-32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Hallucination Detection &amp; Correction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1100" y="2498725"/>
            <a:ext cx="7962900" cy="2797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92"/>
              </a:lnSpc>
            </a:pPr>
            <a:r>
              <a:rPr lang="en-US" b="true" sz="9992">
                <a:solidFill>
                  <a:srgbClr val="1F2A44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Research Objectives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1100" y="5826221"/>
            <a:ext cx="1023772" cy="69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46"/>
              </a:lnSpc>
            </a:pPr>
            <a:r>
              <a:rPr lang="en-US" b="true" sz="4996">
                <a:solidFill>
                  <a:srgbClr val="1F2A44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1100" y="6658038"/>
            <a:ext cx="1023772" cy="69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46"/>
              </a:lnSpc>
            </a:pPr>
            <a:r>
              <a:rPr lang="en-US" b="true" sz="4996">
                <a:solidFill>
                  <a:srgbClr val="1F2A44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1100" y="7508905"/>
            <a:ext cx="1023772" cy="69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46"/>
              </a:lnSpc>
            </a:pPr>
            <a:r>
              <a:rPr lang="en-US" b="true" sz="4996">
                <a:solidFill>
                  <a:srgbClr val="1F2A44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1100" y="8340722"/>
            <a:ext cx="1023772" cy="69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46"/>
              </a:lnSpc>
            </a:pPr>
            <a:r>
              <a:rPr lang="en-US" b="true" sz="4996">
                <a:solidFill>
                  <a:srgbClr val="1F2A44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04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64580" y="5905500"/>
            <a:ext cx="7854537" cy="27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1"/>
              </a:lnSpc>
              <a:spcBef>
                <a:spcPct val="0"/>
              </a:spcBef>
            </a:pPr>
            <a:r>
              <a:rPr lang="en-US" b="true" sz="1608" spc="-32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Study and categorize hallucination types produced by LLMs (intrinsic vs. extrinsic)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64580" y="6737317"/>
            <a:ext cx="7854537" cy="27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1"/>
              </a:lnSpc>
              <a:spcBef>
                <a:spcPct val="0"/>
              </a:spcBef>
            </a:pPr>
            <a:r>
              <a:rPr lang="en-US" b="true" sz="1608" spc="-32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Survey and evaluate existing hallucination detection techniques and their limitations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64580" y="7588184"/>
            <a:ext cx="8482109" cy="27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1"/>
              </a:lnSpc>
              <a:spcBef>
                <a:spcPct val="0"/>
              </a:spcBef>
            </a:pPr>
            <a:r>
              <a:rPr lang="en-US" b="true" sz="1608" spc="-32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Propose an automated detection methodology combining fact-checking, RAG, and confidence scoring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64580" y="8420001"/>
            <a:ext cx="8482109" cy="27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1"/>
              </a:lnSpc>
              <a:spcBef>
                <a:spcPct val="0"/>
              </a:spcBef>
            </a:pPr>
            <a:r>
              <a:rPr lang="en-US" b="true" sz="1608" spc="-32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Design a correction mechanism to replace or flag hallucinated content with verified information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54065"/>
            <a:ext cx="16230600" cy="730286"/>
            <a:chOff x="0" y="0"/>
            <a:chExt cx="4274726" cy="1923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92339"/>
            </a:xfrm>
            <a:custGeom>
              <a:avLst/>
              <a:gdLst/>
              <a:ahLst/>
              <a:cxnLst/>
              <a:rect r="r" b="b" t="t" l="l"/>
              <a:pathLst>
                <a:path h="192339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68012"/>
                  </a:lnTo>
                  <a:cubicBezTo>
                    <a:pt x="4274726" y="181447"/>
                    <a:pt x="4263834" y="192339"/>
                    <a:pt x="4250399" y="192339"/>
                  </a:cubicBezTo>
                  <a:lnTo>
                    <a:pt x="24327" y="192339"/>
                  </a:lnTo>
                  <a:cubicBezTo>
                    <a:pt x="10891" y="192339"/>
                    <a:pt x="0" y="181447"/>
                    <a:pt x="0" y="168012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ln w="38100" cap="rnd">
              <a:solidFill>
                <a:srgbClr val="E5E7E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30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346325"/>
            <a:ext cx="6816452" cy="2797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92"/>
              </a:lnSpc>
            </a:pPr>
            <a:r>
              <a:rPr lang="en-US" b="true" sz="9992">
                <a:solidFill>
                  <a:srgbClr val="1F2A44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Literature Survey</a:t>
            </a:r>
          </a:p>
        </p:txBody>
      </p:sp>
      <p:sp>
        <p:nvSpPr>
          <p:cNvPr name="AutoShape 6" id="6"/>
          <p:cNvSpPr/>
          <p:nvPr/>
        </p:nvSpPr>
        <p:spPr>
          <a:xfrm>
            <a:off x="8616745" y="6755441"/>
            <a:ext cx="8482109" cy="0"/>
          </a:xfrm>
          <a:prstGeom prst="line">
            <a:avLst/>
          </a:prstGeom>
          <a:ln cap="flat" w="38100">
            <a:solidFill>
              <a:srgbClr val="4A5D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8616745" y="7587258"/>
            <a:ext cx="8482109" cy="0"/>
          </a:xfrm>
          <a:prstGeom prst="line">
            <a:avLst/>
          </a:prstGeom>
          <a:ln cap="flat" w="38100">
            <a:solidFill>
              <a:srgbClr val="4A5D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8616745" y="8438125"/>
            <a:ext cx="8482109" cy="0"/>
          </a:xfrm>
          <a:prstGeom prst="line">
            <a:avLst/>
          </a:prstGeom>
          <a:ln cap="flat" w="38100">
            <a:solidFill>
              <a:srgbClr val="4A5D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028700" y="5654361"/>
            <a:ext cx="5719012" cy="3256873"/>
            <a:chOff x="0" y="0"/>
            <a:chExt cx="886025" cy="5045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86025" cy="504575"/>
            </a:xfrm>
            <a:custGeom>
              <a:avLst/>
              <a:gdLst/>
              <a:ahLst/>
              <a:cxnLst/>
              <a:rect r="r" b="b" t="t" l="l"/>
              <a:pathLst>
                <a:path h="504575" w="886025">
                  <a:moveTo>
                    <a:pt x="67686" y="0"/>
                  </a:moveTo>
                  <a:lnTo>
                    <a:pt x="818339" y="0"/>
                  </a:lnTo>
                  <a:cubicBezTo>
                    <a:pt x="836290" y="0"/>
                    <a:pt x="853506" y="7131"/>
                    <a:pt x="866200" y="19825"/>
                  </a:cubicBezTo>
                  <a:cubicBezTo>
                    <a:pt x="878893" y="32518"/>
                    <a:pt x="886025" y="49734"/>
                    <a:pt x="886025" y="67686"/>
                  </a:cubicBezTo>
                  <a:lnTo>
                    <a:pt x="886025" y="436889"/>
                  </a:lnTo>
                  <a:cubicBezTo>
                    <a:pt x="886025" y="454840"/>
                    <a:pt x="878893" y="472057"/>
                    <a:pt x="866200" y="484750"/>
                  </a:cubicBezTo>
                  <a:cubicBezTo>
                    <a:pt x="853506" y="497444"/>
                    <a:pt x="836290" y="504575"/>
                    <a:pt x="818339" y="504575"/>
                  </a:cubicBezTo>
                  <a:lnTo>
                    <a:pt x="67686" y="504575"/>
                  </a:lnTo>
                  <a:cubicBezTo>
                    <a:pt x="49734" y="504575"/>
                    <a:pt x="32518" y="497444"/>
                    <a:pt x="19825" y="484750"/>
                  </a:cubicBezTo>
                  <a:cubicBezTo>
                    <a:pt x="7131" y="472057"/>
                    <a:pt x="0" y="454840"/>
                    <a:pt x="0" y="436889"/>
                  </a:cubicBezTo>
                  <a:lnTo>
                    <a:pt x="0" y="67686"/>
                  </a:lnTo>
                  <a:cubicBezTo>
                    <a:pt x="0" y="49734"/>
                    <a:pt x="7131" y="32518"/>
                    <a:pt x="19825" y="19825"/>
                  </a:cubicBezTo>
                  <a:cubicBezTo>
                    <a:pt x="32518" y="7131"/>
                    <a:pt x="49734" y="0"/>
                    <a:pt x="67686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5" r="0" b="-4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845152" y="2241550"/>
            <a:ext cx="9414148" cy="2707283"/>
            <a:chOff x="0" y="0"/>
            <a:chExt cx="1458498" cy="4194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58498" cy="419429"/>
            </a:xfrm>
            <a:custGeom>
              <a:avLst/>
              <a:gdLst/>
              <a:ahLst/>
              <a:cxnLst/>
              <a:rect r="r" b="b" t="t" l="l"/>
              <a:pathLst>
                <a:path h="419429" w="1458498">
                  <a:moveTo>
                    <a:pt x="41119" y="0"/>
                  </a:moveTo>
                  <a:lnTo>
                    <a:pt x="1417379" y="0"/>
                  </a:lnTo>
                  <a:cubicBezTo>
                    <a:pt x="1428285" y="0"/>
                    <a:pt x="1438743" y="4332"/>
                    <a:pt x="1446455" y="12043"/>
                  </a:cubicBezTo>
                  <a:cubicBezTo>
                    <a:pt x="1454166" y="19755"/>
                    <a:pt x="1458498" y="30213"/>
                    <a:pt x="1458498" y="41119"/>
                  </a:cubicBezTo>
                  <a:lnTo>
                    <a:pt x="1458498" y="378310"/>
                  </a:lnTo>
                  <a:cubicBezTo>
                    <a:pt x="1458498" y="401020"/>
                    <a:pt x="1440089" y="419429"/>
                    <a:pt x="1417379" y="419429"/>
                  </a:cubicBezTo>
                  <a:lnTo>
                    <a:pt x="41119" y="419429"/>
                  </a:lnTo>
                  <a:cubicBezTo>
                    <a:pt x="30213" y="419429"/>
                    <a:pt x="19755" y="415097"/>
                    <a:pt x="12043" y="407386"/>
                  </a:cubicBezTo>
                  <a:cubicBezTo>
                    <a:pt x="4332" y="399674"/>
                    <a:pt x="0" y="389216"/>
                    <a:pt x="0" y="378310"/>
                  </a:cubicBezTo>
                  <a:lnTo>
                    <a:pt x="0" y="41119"/>
                  </a:lnTo>
                  <a:cubicBezTo>
                    <a:pt x="0" y="30213"/>
                    <a:pt x="4332" y="19755"/>
                    <a:pt x="12043" y="12043"/>
                  </a:cubicBezTo>
                  <a:cubicBezTo>
                    <a:pt x="19755" y="4332"/>
                    <a:pt x="30213" y="0"/>
                    <a:pt x="41119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9104" r="0" b="-4910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55014" y="1198334"/>
            <a:ext cx="2823587" cy="305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9"/>
              </a:lnSpc>
              <a:spcBef>
                <a:spcPct val="0"/>
              </a:spcBef>
            </a:pPr>
            <a:r>
              <a:rPr lang="en-US" b="true" sz="1857" spc="-37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LLM Hallucination Research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32206" y="1198334"/>
            <a:ext cx="2823587" cy="305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9"/>
              </a:lnSpc>
              <a:spcBef>
                <a:spcPct val="0"/>
              </a:spcBef>
            </a:pPr>
            <a:r>
              <a:rPr lang="en-US" b="true" sz="1857" spc="-37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2025–26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55889" y="1198334"/>
            <a:ext cx="3930366" cy="305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99"/>
              </a:lnSpc>
              <a:spcBef>
                <a:spcPct val="0"/>
              </a:spcBef>
            </a:pPr>
            <a:r>
              <a:rPr lang="en-US" b="true" sz="1857" spc="-37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Research Proposal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33266" y="6056974"/>
            <a:ext cx="1023772" cy="69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46"/>
              </a:lnSpc>
            </a:pPr>
            <a:r>
              <a:rPr lang="en-US" b="true" sz="4996">
                <a:solidFill>
                  <a:srgbClr val="1F2A44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33266" y="6888791"/>
            <a:ext cx="1023772" cy="69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46"/>
              </a:lnSpc>
            </a:pPr>
            <a:r>
              <a:rPr lang="en-US" b="true" sz="4996">
                <a:solidFill>
                  <a:srgbClr val="1F2A44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05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33266" y="7739658"/>
            <a:ext cx="1023772" cy="69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46"/>
              </a:lnSpc>
            </a:pPr>
            <a:r>
              <a:rPr lang="en-US" b="true" sz="4996">
                <a:solidFill>
                  <a:srgbClr val="1F2A44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06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16745" y="6136253"/>
            <a:ext cx="7854537" cy="305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9"/>
              </a:lnSpc>
              <a:spcBef>
                <a:spcPct val="0"/>
              </a:spcBef>
            </a:pPr>
            <a:r>
              <a:rPr lang="en-US" b="true" sz="1857" spc="-37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Ji et al. (2023): Comprehensive NLG hallucination survey, no detection framework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616745" y="6968070"/>
            <a:ext cx="7854537" cy="305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9"/>
              </a:lnSpc>
              <a:spcBef>
                <a:spcPct val="0"/>
              </a:spcBef>
            </a:pPr>
            <a:r>
              <a:rPr lang="en-US" b="true" sz="1857" spc="-37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SelfCheckGPT &amp; FActScoring: Effective but computationally expensive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616745" y="7818937"/>
            <a:ext cx="8482109" cy="305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9"/>
              </a:lnSpc>
              <a:spcBef>
                <a:spcPct val="0"/>
              </a:spcBef>
            </a:pPr>
            <a:r>
              <a:rPr lang="en-US" b="true" sz="1857" spc="-37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Kadavath et al.: Self-evaluation via prompting, unreliable for complex claims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522720" y="5377458"/>
            <a:ext cx="6311043" cy="305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9"/>
              </a:lnSpc>
              <a:spcBef>
                <a:spcPct val="0"/>
              </a:spcBef>
            </a:pPr>
            <a:r>
              <a:rPr lang="en-US" b="true" sz="1857" spc="-37">
                <a:solidFill>
                  <a:srgbClr val="4A5D7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Key prior work and identified research gaps: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22720" y="8695300"/>
            <a:ext cx="9736580" cy="305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9"/>
              </a:lnSpc>
              <a:spcBef>
                <a:spcPct val="0"/>
              </a:spcBef>
            </a:pPr>
            <a:r>
              <a:rPr lang="en-US" b="true" sz="1857" spc="-37">
                <a:solidFill>
                  <a:srgbClr val="4A5D7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Gaps: Domain-specificity, no real-time correction, high latency, no unified pipelines.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1100" y="1181100"/>
            <a:ext cx="16230600" cy="730286"/>
            <a:chOff x="0" y="0"/>
            <a:chExt cx="4274726" cy="1923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92339"/>
            </a:xfrm>
            <a:custGeom>
              <a:avLst/>
              <a:gdLst/>
              <a:ahLst/>
              <a:cxnLst/>
              <a:rect r="r" b="b" t="t" l="l"/>
              <a:pathLst>
                <a:path h="192339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68012"/>
                  </a:lnTo>
                  <a:cubicBezTo>
                    <a:pt x="4274726" y="181447"/>
                    <a:pt x="4263834" y="192339"/>
                    <a:pt x="4250399" y="192339"/>
                  </a:cubicBezTo>
                  <a:lnTo>
                    <a:pt x="24327" y="192339"/>
                  </a:lnTo>
                  <a:cubicBezTo>
                    <a:pt x="10891" y="192339"/>
                    <a:pt x="0" y="181447"/>
                    <a:pt x="0" y="168012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ln w="38100" cap="rnd">
              <a:solidFill>
                <a:srgbClr val="E5E7E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30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9691437" y="6915150"/>
            <a:ext cx="5084107" cy="0"/>
          </a:xfrm>
          <a:prstGeom prst="line">
            <a:avLst/>
          </a:prstGeom>
          <a:ln cap="flat" w="38100">
            <a:solidFill>
              <a:srgbClr val="4A5D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9691437" y="7746967"/>
            <a:ext cx="5084107" cy="0"/>
          </a:xfrm>
          <a:prstGeom prst="line">
            <a:avLst/>
          </a:prstGeom>
          <a:ln cap="flat" w="38100">
            <a:solidFill>
              <a:srgbClr val="4A5D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691437" y="8597834"/>
            <a:ext cx="5084107" cy="0"/>
          </a:xfrm>
          <a:prstGeom prst="line">
            <a:avLst/>
          </a:prstGeom>
          <a:ln cap="flat" w="38100">
            <a:solidFill>
              <a:srgbClr val="4A5D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333500" y="4246529"/>
            <a:ext cx="6829680" cy="5011771"/>
            <a:chOff x="0" y="0"/>
            <a:chExt cx="1058096" cy="7764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8096" cy="776454"/>
            </a:xfrm>
            <a:custGeom>
              <a:avLst/>
              <a:gdLst/>
              <a:ahLst/>
              <a:cxnLst/>
              <a:rect r="r" b="b" t="t" l="l"/>
              <a:pathLst>
                <a:path h="776454" w="1058096">
                  <a:moveTo>
                    <a:pt x="56678" y="0"/>
                  </a:moveTo>
                  <a:lnTo>
                    <a:pt x="1001418" y="0"/>
                  </a:lnTo>
                  <a:cubicBezTo>
                    <a:pt x="1016450" y="0"/>
                    <a:pt x="1030866" y="5971"/>
                    <a:pt x="1041495" y="16601"/>
                  </a:cubicBezTo>
                  <a:cubicBezTo>
                    <a:pt x="1052125" y="27230"/>
                    <a:pt x="1058096" y="41646"/>
                    <a:pt x="1058096" y="56678"/>
                  </a:cubicBezTo>
                  <a:lnTo>
                    <a:pt x="1058096" y="719776"/>
                  </a:lnTo>
                  <a:cubicBezTo>
                    <a:pt x="1058096" y="734808"/>
                    <a:pt x="1052125" y="749224"/>
                    <a:pt x="1041495" y="759854"/>
                  </a:cubicBezTo>
                  <a:cubicBezTo>
                    <a:pt x="1030866" y="770483"/>
                    <a:pt x="1016450" y="776454"/>
                    <a:pt x="1001418" y="776454"/>
                  </a:cubicBezTo>
                  <a:lnTo>
                    <a:pt x="56678" y="776454"/>
                  </a:lnTo>
                  <a:cubicBezTo>
                    <a:pt x="25376" y="776454"/>
                    <a:pt x="0" y="751079"/>
                    <a:pt x="0" y="719776"/>
                  </a:cubicBezTo>
                  <a:lnTo>
                    <a:pt x="0" y="56678"/>
                  </a:lnTo>
                  <a:cubicBezTo>
                    <a:pt x="0" y="25376"/>
                    <a:pt x="25376" y="0"/>
                    <a:pt x="5667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846" r="0" b="-84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07414" y="1315844"/>
            <a:ext cx="2823587" cy="33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8"/>
              </a:lnSpc>
              <a:spcBef>
                <a:spcPct val="0"/>
              </a:spcBef>
            </a:pPr>
            <a:r>
              <a:rPr lang="en-US" b="true" sz="2027" spc="-40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Research Proposal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37006" y="1320785"/>
            <a:ext cx="2823587" cy="33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8"/>
              </a:lnSpc>
              <a:spcBef>
                <a:spcPct val="0"/>
              </a:spcBef>
            </a:pPr>
            <a:r>
              <a:rPr lang="en-US" b="true" sz="2027" spc="-40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2025–26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60689" y="1320785"/>
            <a:ext cx="3930366" cy="33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838"/>
              </a:lnSpc>
              <a:spcBef>
                <a:spcPct val="0"/>
              </a:spcBef>
            </a:pPr>
            <a:r>
              <a:rPr lang="en-US" b="true" sz="2027" spc="-40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Hallucination Detection in LLMs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3500" y="2603500"/>
            <a:ext cx="9527094" cy="86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13"/>
              </a:lnSpc>
            </a:pPr>
            <a:r>
              <a:rPr lang="en-US" b="true" sz="6067">
                <a:solidFill>
                  <a:srgbClr val="1F2A44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Proposed Methodology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91437" y="6286437"/>
            <a:ext cx="4175444" cy="33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8"/>
              </a:lnSpc>
              <a:spcBef>
                <a:spcPct val="0"/>
              </a:spcBef>
            </a:pPr>
            <a:r>
              <a:rPr lang="en-US" b="true" sz="2027" spc="-40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RAG Retrieval &amp; NLI Entailment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91437" y="7118254"/>
            <a:ext cx="4391544" cy="33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8"/>
              </a:lnSpc>
              <a:spcBef>
                <a:spcPct val="0"/>
              </a:spcBef>
            </a:pPr>
            <a:r>
              <a:rPr lang="en-US" b="true" sz="2027" spc="-40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Confidence Scoring Module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91437" y="7969121"/>
            <a:ext cx="4391544" cy="33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8"/>
              </a:lnSpc>
              <a:spcBef>
                <a:spcPct val="0"/>
              </a:spcBef>
            </a:pPr>
            <a:r>
              <a:rPr lang="en-US" b="true" sz="2027" spc="-40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Correction &amp; Output Layer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97412" y="5527642"/>
            <a:ext cx="8100872" cy="33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8"/>
              </a:lnSpc>
              <a:spcBef>
                <a:spcPct val="0"/>
              </a:spcBef>
            </a:pPr>
            <a:r>
              <a:rPr lang="en-US" b="true" sz="2027" spc="-40">
                <a:solidFill>
                  <a:srgbClr val="4A5D7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Input Layer → Claim Extraction → RAG → NLI → Scoring → Correction → Output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97412" y="8845484"/>
            <a:ext cx="8493644" cy="33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8"/>
              </a:lnSpc>
              <a:spcBef>
                <a:spcPct val="0"/>
              </a:spcBef>
            </a:pPr>
            <a:r>
              <a:rPr lang="en-US" b="true" sz="2027" spc="-40">
                <a:solidFill>
                  <a:srgbClr val="4A5D7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Models: LLaMA/GPT-4 (Base), DPR/BM25 (Retrieval), RoBERTa-NLI (Entailment)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97412" y="6250020"/>
            <a:ext cx="1023772" cy="69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46"/>
              </a:lnSpc>
            </a:pPr>
            <a:r>
              <a:rPr lang="en-US" b="true" sz="4996">
                <a:solidFill>
                  <a:srgbClr val="1F2A44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97412" y="7081837"/>
            <a:ext cx="1023772" cy="69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46"/>
              </a:lnSpc>
            </a:pPr>
            <a:r>
              <a:rPr lang="en-US" b="true" sz="4996">
                <a:solidFill>
                  <a:srgbClr val="1F2A44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97412" y="7932704"/>
            <a:ext cx="1023772" cy="69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46"/>
              </a:lnSpc>
            </a:pPr>
            <a:r>
              <a:rPr lang="en-US" b="true" sz="4996">
                <a:solidFill>
                  <a:srgbClr val="1F2A44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730286"/>
            <a:chOff x="0" y="0"/>
            <a:chExt cx="4274726" cy="1923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92339"/>
            </a:xfrm>
            <a:custGeom>
              <a:avLst/>
              <a:gdLst/>
              <a:ahLst/>
              <a:cxnLst/>
              <a:rect r="r" b="b" t="t" l="l"/>
              <a:pathLst>
                <a:path h="192339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68012"/>
                  </a:lnTo>
                  <a:cubicBezTo>
                    <a:pt x="4274726" y="181447"/>
                    <a:pt x="4263834" y="192339"/>
                    <a:pt x="4250399" y="192339"/>
                  </a:cubicBezTo>
                  <a:lnTo>
                    <a:pt x="24327" y="192339"/>
                  </a:lnTo>
                  <a:cubicBezTo>
                    <a:pt x="10891" y="192339"/>
                    <a:pt x="0" y="181447"/>
                    <a:pt x="0" y="168012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ln w="38100" cap="rnd">
              <a:solidFill>
                <a:srgbClr val="E5E7E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30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681288"/>
            <a:ext cx="9989977" cy="220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10"/>
              </a:lnSpc>
            </a:pPr>
            <a:r>
              <a:rPr lang="en-US" b="true" sz="7899">
                <a:solidFill>
                  <a:srgbClr val="1F2A44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Tools &amp; Technologies Used</a:t>
            </a:r>
          </a:p>
        </p:txBody>
      </p:sp>
      <p:sp>
        <p:nvSpPr>
          <p:cNvPr name="AutoShape 6" id="6"/>
          <p:cNvSpPr/>
          <p:nvPr/>
        </p:nvSpPr>
        <p:spPr>
          <a:xfrm>
            <a:off x="10042030" y="7760024"/>
            <a:ext cx="7082966" cy="0"/>
          </a:xfrm>
          <a:prstGeom prst="line">
            <a:avLst/>
          </a:prstGeom>
          <a:ln cap="flat" w="38100">
            <a:solidFill>
              <a:srgbClr val="4A5D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0042030" y="8424810"/>
            <a:ext cx="7082966" cy="0"/>
          </a:xfrm>
          <a:prstGeom prst="line">
            <a:avLst/>
          </a:prstGeom>
          <a:ln cap="flat" w="38100">
            <a:solidFill>
              <a:srgbClr val="4A5D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0042030" y="9164649"/>
            <a:ext cx="7082966" cy="0"/>
          </a:xfrm>
          <a:prstGeom prst="line">
            <a:avLst/>
          </a:prstGeom>
          <a:ln cap="flat" w="38100">
            <a:solidFill>
              <a:srgbClr val="4A5D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1037689" y="2241550"/>
            <a:ext cx="6116836" cy="3629025"/>
            <a:chOff x="0" y="0"/>
            <a:chExt cx="947658" cy="5622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7658" cy="562231"/>
            </a:xfrm>
            <a:custGeom>
              <a:avLst/>
              <a:gdLst/>
              <a:ahLst/>
              <a:cxnLst/>
              <a:rect r="r" b="b" t="t" l="l"/>
              <a:pathLst>
                <a:path h="562231" w="947658">
                  <a:moveTo>
                    <a:pt x="63284" y="0"/>
                  </a:moveTo>
                  <a:lnTo>
                    <a:pt x="884374" y="0"/>
                  </a:lnTo>
                  <a:cubicBezTo>
                    <a:pt x="919325" y="0"/>
                    <a:pt x="947658" y="28333"/>
                    <a:pt x="947658" y="63284"/>
                  </a:cubicBezTo>
                  <a:lnTo>
                    <a:pt x="947658" y="498947"/>
                  </a:lnTo>
                  <a:cubicBezTo>
                    <a:pt x="947658" y="533898"/>
                    <a:pt x="919325" y="562231"/>
                    <a:pt x="884374" y="562231"/>
                  </a:cubicBezTo>
                  <a:lnTo>
                    <a:pt x="63284" y="562231"/>
                  </a:lnTo>
                  <a:cubicBezTo>
                    <a:pt x="28333" y="562231"/>
                    <a:pt x="0" y="533898"/>
                    <a:pt x="0" y="498947"/>
                  </a:cubicBezTo>
                  <a:lnTo>
                    <a:pt x="0" y="63284"/>
                  </a:lnTo>
                  <a:cubicBezTo>
                    <a:pt x="0" y="28333"/>
                    <a:pt x="28333" y="0"/>
                    <a:pt x="63284" y="0"/>
                  </a:cubicBezTo>
                  <a:close/>
                </a:path>
              </a:pathLst>
            </a:custGeom>
            <a:blipFill>
              <a:blip r:embed="rId2"/>
              <a:stretch>
                <a:fillRect l="-2042" t="0" r="-204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55014" y="1153919"/>
            <a:ext cx="2823587" cy="406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32"/>
              </a:lnSpc>
              <a:spcBef>
                <a:spcPct val="0"/>
              </a:spcBef>
            </a:pPr>
            <a:r>
              <a:rPr lang="en-US" b="true" sz="2380" spc="-47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Research Proposal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32206" y="1153919"/>
            <a:ext cx="2823587" cy="406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32"/>
              </a:lnSpc>
              <a:spcBef>
                <a:spcPct val="0"/>
              </a:spcBef>
            </a:pPr>
            <a:r>
              <a:rPr lang="en-US" b="true" sz="2380" spc="-47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2025–26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55889" y="1153919"/>
            <a:ext cx="3930366" cy="406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32"/>
              </a:lnSpc>
              <a:spcBef>
                <a:spcPct val="0"/>
              </a:spcBef>
            </a:pPr>
            <a:r>
              <a:rPr lang="en-US" b="true" sz="2380" spc="-47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Hallucination Detection in LLMs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42030" y="7203187"/>
            <a:ext cx="1289573" cy="222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85"/>
              </a:lnSpc>
              <a:spcBef>
                <a:spcPct val="0"/>
              </a:spcBef>
            </a:pPr>
            <a:r>
              <a:rPr lang="en-US" b="true" sz="1346" spc="-26">
                <a:solidFill>
                  <a:srgbClr val="4A5D7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LLM Frameworks: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42030" y="7904045"/>
            <a:ext cx="1435880" cy="222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85"/>
              </a:lnSpc>
              <a:spcBef>
                <a:spcPct val="0"/>
              </a:spcBef>
            </a:pPr>
            <a:r>
              <a:rPr lang="en-US" b="true" sz="1346" spc="-26">
                <a:solidFill>
                  <a:srgbClr val="4A5D7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Retrieval: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42030" y="8608958"/>
            <a:ext cx="1738108" cy="222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85"/>
              </a:lnSpc>
              <a:spcBef>
                <a:spcPct val="0"/>
              </a:spcBef>
            </a:pPr>
            <a:r>
              <a:rPr lang="en-US" b="true" sz="1346" spc="-26">
                <a:solidFill>
                  <a:srgbClr val="4A5D7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Evaluation: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77910" y="7174612"/>
            <a:ext cx="5781390" cy="406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32"/>
              </a:lnSpc>
              <a:spcBef>
                <a:spcPct val="0"/>
              </a:spcBef>
            </a:pPr>
            <a:r>
              <a:rPr lang="en-US" b="true" sz="2380" spc="-47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Hugging Face Transformers, LangChain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21267" y="7875470"/>
            <a:ext cx="5367247" cy="406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32"/>
              </a:lnSpc>
              <a:spcBef>
                <a:spcPct val="0"/>
              </a:spcBef>
            </a:pPr>
            <a:r>
              <a:rPr lang="en-US" b="true" sz="2380" spc="-47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FAISS, BM25, Elasticsearch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92053" y="8580383"/>
            <a:ext cx="5096461" cy="406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32"/>
              </a:lnSpc>
              <a:spcBef>
                <a:spcPct val="0"/>
              </a:spcBef>
            </a:pPr>
            <a:r>
              <a:rPr lang="en-US" b="true" sz="2380" spc="-47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TruthfulQA, HaluEval, MS-MARCO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7246820"/>
            <a:ext cx="7854537" cy="1244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32"/>
              </a:lnSpc>
              <a:spcBef>
                <a:spcPct val="0"/>
              </a:spcBef>
            </a:pPr>
            <a:r>
              <a:rPr lang="en-US" b="true" sz="2380" spc="-47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Programming Language: Python 3.10+. </a:t>
            </a:r>
          </a:p>
          <a:p>
            <a:pPr algn="l" marL="0" indent="0" lvl="0">
              <a:lnSpc>
                <a:spcPts val="3332"/>
              </a:lnSpc>
              <a:spcBef>
                <a:spcPct val="0"/>
              </a:spcBef>
            </a:pPr>
            <a:r>
              <a:rPr lang="en-US" b="true" sz="2380" spc="-47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Base Models: LLaMA 2, GPT-3.5, Mistral. </a:t>
            </a:r>
          </a:p>
          <a:p>
            <a:pPr algn="l" marL="0" indent="0" lvl="0">
              <a:lnSpc>
                <a:spcPts val="3332"/>
              </a:lnSpc>
              <a:spcBef>
                <a:spcPct val="0"/>
              </a:spcBef>
            </a:pPr>
            <a:r>
              <a:rPr lang="en-US" b="true" sz="2380" spc="-47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NLI Models: RoBERTa, DeBERTa for entailment verification.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730286"/>
            <a:chOff x="0" y="0"/>
            <a:chExt cx="4274726" cy="1923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92339"/>
            </a:xfrm>
            <a:custGeom>
              <a:avLst/>
              <a:gdLst/>
              <a:ahLst/>
              <a:cxnLst/>
              <a:rect r="r" b="b" t="t" l="l"/>
              <a:pathLst>
                <a:path h="192339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68012"/>
                  </a:lnTo>
                  <a:cubicBezTo>
                    <a:pt x="4274726" y="181447"/>
                    <a:pt x="4263834" y="192339"/>
                    <a:pt x="4250399" y="192339"/>
                  </a:cubicBezTo>
                  <a:lnTo>
                    <a:pt x="24327" y="192339"/>
                  </a:lnTo>
                  <a:cubicBezTo>
                    <a:pt x="10891" y="192339"/>
                    <a:pt x="0" y="181447"/>
                    <a:pt x="0" y="168012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ln w="38100" cap="rnd">
              <a:solidFill>
                <a:srgbClr val="E5E7E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30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2464580" y="6915150"/>
            <a:ext cx="8482109" cy="0"/>
          </a:xfrm>
          <a:prstGeom prst="line">
            <a:avLst/>
          </a:prstGeom>
          <a:ln cap="flat" w="38100">
            <a:solidFill>
              <a:srgbClr val="4A5D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464580" y="7746967"/>
            <a:ext cx="8482109" cy="0"/>
          </a:xfrm>
          <a:prstGeom prst="line">
            <a:avLst/>
          </a:prstGeom>
          <a:ln cap="flat" w="38100">
            <a:solidFill>
              <a:srgbClr val="4A5D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2464580" y="8597834"/>
            <a:ext cx="8482109" cy="0"/>
          </a:xfrm>
          <a:prstGeom prst="line">
            <a:avLst/>
          </a:prstGeom>
          <a:ln cap="flat" w="38100">
            <a:solidFill>
              <a:srgbClr val="4A5D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2396900" y="4059171"/>
            <a:ext cx="4862400" cy="5199129"/>
            <a:chOff x="0" y="0"/>
            <a:chExt cx="753313" cy="8054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3313" cy="805481"/>
            </a:xfrm>
            <a:custGeom>
              <a:avLst/>
              <a:gdLst/>
              <a:ahLst/>
              <a:cxnLst/>
              <a:rect r="r" b="b" t="t" l="l"/>
              <a:pathLst>
                <a:path h="805481" w="753313">
                  <a:moveTo>
                    <a:pt x="79610" y="0"/>
                  </a:moveTo>
                  <a:lnTo>
                    <a:pt x="673703" y="0"/>
                  </a:lnTo>
                  <a:cubicBezTo>
                    <a:pt x="717670" y="0"/>
                    <a:pt x="753313" y="35643"/>
                    <a:pt x="753313" y="79610"/>
                  </a:cubicBezTo>
                  <a:lnTo>
                    <a:pt x="753313" y="725871"/>
                  </a:lnTo>
                  <a:cubicBezTo>
                    <a:pt x="753313" y="769838"/>
                    <a:pt x="717670" y="805481"/>
                    <a:pt x="673703" y="805481"/>
                  </a:cubicBezTo>
                  <a:lnTo>
                    <a:pt x="79610" y="805481"/>
                  </a:lnTo>
                  <a:cubicBezTo>
                    <a:pt x="35643" y="805481"/>
                    <a:pt x="0" y="769838"/>
                    <a:pt x="0" y="725871"/>
                  </a:cubicBezTo>
                  <a:lnTo>
                    <a:pt x="0" y="79610"/>
                  </a:lnTo>
                  <a:cubicBezTo>
                    <a:pt x="0" y="35643"/>
                    <a:pt x="35643" y="0"/>
                    <a:pt x="79610" y="0"/>
                  </a:cubicBezTo>
                  <a:close/>
                </a:path>
              </a:pathLst>
            </a:custGeom>
            <a:blipFill>
              <a:blip r:embed="rId2"/>
              <a:stretch>
                <a:fillRect l="-3462" t="0" r="-3462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55014" y="1172969"/>
            <a:ext cx="2823587" cy="33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92"/>
              </a:lnSpc>
              <a:spcBef>
                <a:spcPct val="0"/>
              </a:spcBef>
            </a:pPr>
            <a:r>
              <a:rPr lang="en-US" b="true" sz="2066" spc="-41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Research Proposal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84606" y="1177910"/>
            <a:ext cx="2823587" cy="33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2"/>
              </a:lnSpc>
              <a:spcBef>
                <a:spcPct val="0"/>
              </a:spcBef>
            </a:pPr>
            <a:r>
              <a:rPr lang="en-US" b="true" sz="2066" spc="-41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2025–26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08289" y="1177910"/>
            <a:ext cx="3930366" cy="33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892"/>
              </a:lnSpc>
              <a:spcBef>
                <a:spcPct val="0"/>
              </a:spcBef>
            </a:pPr>
            <a:r>
              <a:rPr lang="en-US" b="true" sz="2066" spc="-41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Hallucination Detection in LLMs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1100" y="2498725"/>
            <a:ext cx="13074158" cy="1353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92"/>
              </a:lnSpc>
            </a:pPr>
            <a:r>
              <a:rPr lang="en-US" b="true" sz="9626">
                <a:solidFill>
                  <a:srgbClr val="1F2A44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Expected Outcomes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1100" y="6216683"/>
            <a:ext cx="1023772" cy="69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46"/>
              </a:lnSpc>
            </a:pPr>
            <a:r>
              <a:rPr lang="en-US" b="true" sz="4996">
                <a:solidFill>
                  <a:srgbClr val="1F2A44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1100" y="7048500"/>
            <a:ext cx="1023772" cy="69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46"/>
              </a:lnSpc>
            </a:pPr>
            <a:r>
              <a:rPr lang="en-US" b="true" sz="4996">
                <a:solidFill>
                  <a:srgbClr val="1F2A44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1100" y="7899367"/>
            <a:ext cx="1023772" cy="69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46"/>
              </a:lnSpc>
            </a:pPr>
            <a:r>
              <a:rPr lang="en-US" b="true" sz="4996">
                <a:solidFill>
                  <a:srgbClr val="1F2A44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64580" y="6295962"/>
            <a:ext cx="7854537" cy="33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92"/>
              </a:lnSpc>
              <a:spcBef>
                <a:spcPct val="0"/>
              </a:spcBef>
            </a:pPr>
            <a:r>
              <a:rPr lang="en-US" b="true" sz="2066" spc="-41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Functional detection-correction pipeline with reduced hallucination rates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64580" y="7127779"/>
            <a:ext cx="7854537" cy="33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92"/>
              </a:lnSpc>
              <a:spcBef>
                <a:spcPct val="0"/>
              </a:spcBef>
            </a:pPr>
            <a:r>
              <a:rPr lang="en-US" b="true" sz="2066" spc="-41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Labeled benchmark dataset and confidence scoring dashboard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64580" y="7978646"/>
            <a:ext cx="8482109" cy="33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92"/>
              </a:lnSpc>
              <a:spcBef>
                <a:spcPct val="0"/>
              </a:spcBef>
            </a:pPr>
            <a:r>
              <a:rPr lang="en-US" b="true" sz="2066" spc="-41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Research publication and demonstrated applicability in medical QA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0554" y="5537167"/>
            <a:ext cx="6311043" cy="33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92"/>
              </a:lnSpc>
              <a:spcBef>
                <a:spcPct val="0"/>
              </a:spcBef>
            </a:pPr>
            <a:r>
              <a:rPr lang="en-US" b="true" sz="2066" spc="-41">
                <a:solidFill>
                  <a:srgbClr val="4A5D7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Anticipated deliverables and impact: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70554" y="8855009"/>
            <a:ext cx="10481762" cy="33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92"/>
              </a:lnSpc>
              <a:spcBef>
                <a:spcPct val="0"/>
              </a:spcBef>
            </a:pPr>
            <a:r>
              <a:rPr lang="en-US" b="true" sz="2066" spc="-41">
                <a:solidFill>
                  <a:srgbClr val="4A5D73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These outcomes will advance reliable AI systems for critical applications.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730286"/>
            <a:chOff x="0" y="0"/>
            <a:chExt cx="4274726" cy="1923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92339"/>
            </a:xfrm>
            <a:custGeom>
              <a:avLst/>
              <a:gdLst/>
              <a:ahLst/>
              <a:cxnLst/>
              <a:rect r="r" b="b" t="t" l="l"/>
              <a:pathLst>
                <a:path h="192339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68012"/>
                  </a:lnTo>
                  <a:cubicBezTo>
                    <a:pt x="4274726" y="181447"/>
                    <a:pt x="4263834" y="192339"/>
                    <a:pt x="4250399" y="192339"/>
                  </a:cubicBezTo>
                  <a:lnTo>
                    <a:pt x="24327" y="192339"/>
                  </a:lnTo>
                  <a:cubicBezTo>
                    <a:pt x="10891" y="192339"/>
                    <a:pt x="0" y="181447"/>
                    <a:pt x="0" y="168012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ln w="38100" cap="rnd">
              <a:solidFill>
                <a:srgbClr val="E5E7E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30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67698" y="2241550"/>
            <a:ext cx="5791602" cy="7016750"/>
            <a:chOff x="0" y="0"/>
            <a:chExt cx="897271" cy="10870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7271" cy="1087078"/>
            </a:xfrm>
            <a:custGeom>
              <a:avLst/>
              <a:gdLst/>
              <a:ahLst/>
              <a:cxnLst/>
              <a:rect r="r" b="b" t="t" l="l"/>
              <a:pathLst>
                <a:path h="1087078" w="897271">
                  <a:moveTo>
                    <a:pt x="66837" y="0"/>
                  </a:moveTo>
                  <a:lnTo>
                    <a:pt x="830433" y="0"/>
                  </a:lnTo>
                  <a:cubicBezTo>
                    <a:pt x="848160" y="0"/>
                    <a:pt x="865160" y="7042"/>
                    <a:pt x="877694" y="19576"/>
                  </a:cubicBezTo>
                  <a:cubicBezTo>
                    <a:pt x="890229" y="32111"/>
                    <a:pt x="897271" y="49111"/>
                    <a:pt x="897271" y="66837"/>
                  </a:cubicBezTo>
                  <a:lnTo>
                    <a:pt x="897271" y="1020241"/>
                  </a:lnTo>
                  <a:cubicBezTo>
                    <a:pt x="897271" y="1037967"/>
                    <a:pt x="890229" y="1054967"/>
                    <a:pt x="877694" y="1067502"/>
                  </a:cubicBezTo>
                  <a:cubicBezTo>
                    <a:pt x="865160" y="1080036"/>
                    <a:pt x="848160" y="1087078"/>
                    <a:pt x="830433" y="1087078"/>
                  </a:cubicBezTo>
                  <a:lnTo>
                    <a:pt x="66837" y="1087078"/>
                  </a:lnTo>
                  <a:cubicBezTo>
                    <a:pt x="29924" y="1087078"/>
                    <a:pt x="0" y="1057154"/>
                    <a:pt x="0" y="1020241"/>
                  </a:cubicBezTo>
                  <a:lnTo>
                    <a:pt x="0" y="66837"/>
                  </a:lnTo>
                  <a:cubicBezTo>
                    <a:pt x="0" y="29924"/>
                    <a:pt x="29924" y="0"/>
                    <a:pt x="6683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029" r="0" b="-1029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5147976"/>
            <a:ext cx="6703506" cy="205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1"/>
              </a:lnSpc>
            </a:pPr>
            <a:r>
              <a:rPr lang="en-US" b="true" sz="12001">
                <a:solidFill>
                  <a:srgbClr val="1F2A44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Thank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640313"/>
            <a:ext cx="6703506" cy="2038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88"/>
              </a:lnSpc>
            </a:pPr>
            <a:r>
              <a:rPr lang="en-US" b="true" sz="11991">
                <a:solidFill>
                  <a:srgbClr val="1F2A44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You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5014" y="1163444"/>
            <a:ext cx="2823587" cy="28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6"/>
              </a:lnSpc>
              <a:spcBef>
                <a:spcPct val="0"/>
              </a:spcBef>
            </a:pPr>
            <a:r>
              <a:rPr lang="en-US" b="true" sz="1647" spc="-32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Questions &amp; Discussion Welcome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55889" y="1163444"/>
            <a:ext cx="3930366" cy="28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06"/>
              </a:lnSpc>
              <a:spcBef>
                <a:spcPct val="0"/>
              </a:spcBef>
            </a:pPr>
            <a:r>
              <a:rPr lang="en-US" b="true" sz="1647" spc="-32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Hallucination Detection in LLMs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32206" y="1163444"/>
            <a:ext cx="2823587" cy="28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06"/>
              </a:lnSpc>
              <a:spcBef>
                <a:spcPct val="0"/>
              </a:spcBef>
            </a:pPr>
            <a:r>
              <a:rPr lang="en-US" b="true" sz="1647" spc="-32">
                <a:solidFill>
                  <a:srgbClr val="4A5D73"/>
                </a:solidFill>
                <a:latin typeface="Source Sans 3 Semi-Bold"/>
                <a:ea typeface="Source Sans 3 Semi-Bold"/>
                <a:cs typeface="Source Sans 3 Semi-Bold"/>
                <a:sym typeface="Source Sans 3 Semi-Bold"/>
              </a:rPr>
              <a:t>2025–26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DAHJqPXlb1A</dc:identifier>
  <dcterms:modified xsi:type="dcterms:W3CDTF">2011-08-01T06:04:30Z</dcterms:modified>
  <cp:revision>1</cp:revision>
  <dc:title>Hallucination Detection &amp; Correction in LLMs</dc:title>
</cp:coreProperties>
</file>